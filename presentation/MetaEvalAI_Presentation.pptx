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Meta-Evaluation Framework for</a:t>
            </a:r>
            <a:br/>
            <a:r>
              <a:t>AI Model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Calibri"/>
              </a:defRPr>
            </a:pPr>
            <a:r>
              <a:t>Using Transformer-Based Multi-Dimensional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21CSP302L —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STUDENT 1 NAME  •  STUDENT 2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Guide: Dr. GUIDE NAME  |  Department of Computational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SRM Institute of Science and Technology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Why do we need a Meta-Evaluation Framework?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0D4AA"/>
                </a:solidFill>
                <a:latin typeface="Calibri"/>
              </a:rPr>
              <a:t>▸ </a:t>
            </a:r>
            <a:r>
              <a:rPr sz="1700">
                <a:solidFill>
                  <a:srgbClr val="BBBBCC"/>
                </a:solidFill>
                <a:latin typeface="Calibri"/>
              </a:rPr>
              <a:t>LLMs produce fluent text — but which model is actually better?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AA"/>
                </a:solidFill>
                <a:latin typeface="Calibri"/>
              </a:rPr>
              <a:t>▸ </a:t>
            </a:r>
            <a:r>
              <a:rPr sz="1700">
                <a:solidFill>
                  <a:srgbClr val="BBBBCC"/>
                </a:solidFill>
                <a:latin typeface="Calibri"/>
              </a:rPr>
              <a:t>Human evaluation is expensive, slow, and hard to reproduce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AA"/>
                </a:solidFill>
                <a:latin typeface="Calibri"/>
              </a:rPr>
              <a:t>▸ </a:t>
            </a:r>
            <a:r>
              <a:rPr sz="1700">
                <a:solidFill>
                  <a:srgbClr val="BBBBCC"/>
                </a:solidFill>
                <a:latin typeface="Calibri"/>
              </a:rPr>
              <a:t>BLEU/ROUGE measure word overlap, not meaning or safety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AA"/>
                </a:solidFill>
                <a:latin typeface="Calibri"/>
              </a:rPr>
              <a:t>▸ </a:t>
            </a:r>
            <a:r>
              <a:rPr sz="1700">
                <a:solidFill>
                  <a:srgbClr val="BBBBCC"/>
                </a:solidFill>
                <a:latin typeface="Calibri"/>
              </a:rPr>
              <a:t>BERTScore is single-dimensional — misses bias, consistency, hallucination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AA"/>
                </a:solidFill>
                <a:latin typeface="Calibri"/>
              </a:rPr>
              <a:t>▸ </a:t>
            </a:r>
            <a:r>
              <a:rPr sz="1700">
                <a:solidFill>
                  <a:srgbClr val="BBBBCC"/>
                </a:solidFill>
                <a:latin typeface="Calibri"/>
              </a:rPr>
              <a:t>RAG pipelines introduce new failure modes: hallucinated facts, context echoing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4AA"/>
                </a:solidFill>
                <a:latin typeface="Calibri"/>
              </a:rPr>
              <a:t>▸ </a:t>
            </a:r>
            <a:r>
              <a:rPr sz="1700">
                <a:solidFill>
                  <a:srgbClr val="BBBBCC"/>
                </a:solidFill>
                <a:latin typeface="Calibri"/>
              </a:rPr>
              <a:t>No existing open-source tool evaluates all dimensions for 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6BCBFF"/>
                </a:solidFill>
                <a:latin typeface="Calibri"/>
              </a:rPr>
              <a:t>▸ </a:t>
            </a:r>
            <a:r>
              <a:rPr sz="1600">
                <a:solidFill>
                  <a:srgbClr val="BBBBCC"/>
                </a:solidFill>
                <a:latin typeface="Calibri"/>
              </a:rPr>
              <a:t>4 standard + 2 RAG dimensions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6BCBFF"/>
                </a:solidFill>
                <a:latin typeface="Calibri"/>
              </a:rPr>
              <a:t>▸ </a:t>
            </a:r>
            <a:r>
              <a:rPr sz="1600">
                <a:solidFill>
                  <a:srgbClr val="BBBBCC"/>
                </a:solidFill>
                <a:latin typeface="Calibri"/>
              </a:rPr>
              <a:t>Local transformer models — no API cost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6BCBFF"/>
                </a:solidFill>
                <a:latin typeface="Calibri"/>
              </a:rPr>
              <a:t>▸ </a:t>
            </a:r>
            <a:r>
              <a:rPr sz="1600">
                <a:solidFill>
                  <a:srgbClr val="BBBBCC"/>
                </a:solidFill>
                <a:latin typeface="Calibri"/>
              </a:rPr>
              <a:t>Data-driven weight learning (R²=0.89)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6BCBFF"/>
                </a:solidFill>
                <a:latin typeface="Calibri"/>
              </a:rPr>
              <a:t>▸ </a:t>
            </a:r>
            <a:r>
              <a:rPr sz="1600">
                <a:solidFill>
                  <a:srgbClr val="BBBBCC"/>
                </a:solidFill>
                <a:latin typeface="Calibri"/>
              </a:rPr>
              <a:t>Interactive Streamlit dashboard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6BCBFF"/>
                </a:solidFill>
                <a:latin typeface="Calibri"/>
              </a:rPr>
              <a:t>▸ </a:t>
            </a:r>
            <a:r>
              <a:rPr sz="1600">
                <a:solidFill>
                  <a:srgbClr val="BBBBCC"/>
                </a:solidFill>
                <a:latin typeface="Calibri"/>
              </a:rPr>
              <a:t>17 validation test cases (88% pass)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Modular pipeline with 6 evaluation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1828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all-MiniLM-L6-v2</a:t>
            </a:r>
            <a:br/>
            <a:r>
              <a:t>Semantic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64008" cy="1828800"/>
          </a:xfrm>
          <a:prstGeom prst="rect">
            <a:avLst/>
          </a:prstGeom>
          <a:solidFill>
            <a:srgbClr val="6B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CB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331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Rule-based</a:t>
            </a:r>
            <a:br/>
            <a:r>
              <a:t>Length, diversity,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645920"/>
            <a:ext cx="338328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1645920"/>
            <a:ext cx="64008" cy="1828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8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2331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toxic-bert</a:t>
            </a:r>
            <a:br/>
            <a:r>
              <a:t>Toxicity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38328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64008" cy="18288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26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DeBERTa-v3-small</a:t>
            </a:r>
            <a:br/>
            <a:r>
              <a:t>NLI contradiction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840480"/>
            <a:ext cx="338328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840480"/>
            <a:ext cx="64008" cy="1828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84FC"/>
                </a:solidFill>
                <a:latin typeface="Calibri"/>
              </a:defRPr>
            </a:pPr>
            <a:r>
              <a:t>Faithfulness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526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DeBERTa NLI</a:t>
            </a:r>
            <a:br/>
            <a:r>
              <a:t>Claim verification (RAG)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3840480"/>
            <a:ext cx="338328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8" y="3840480"/>
            <a:ext cx="64008" cy="1828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8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Answer Relevance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4526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Dual-similarity</a:t>
            </a:r>
            <a:br/>
            <a:r>
              <a:t>Echo detection (RAG)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760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→  Score Aggregator  →  Final Ranking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Technical details of each evaluation dimension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Relevance (35%)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45920"/>
            <a:ext cx="7132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Encodes prompt and response using sentence-transformers into 384-dim vectors. Cosine similarity measures semantic closeness. 'Cars on roads' ≈ 'Automobiles on highways' scores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Quality (25%)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80360"/>
            <a:ext cx="7132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Rule-based: scores length adequacy (0.3–1.0), vocabulary diversity (unique/total words), and structural formatting (JSON, Markdown headers, bullet lists). No ML model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Bias (25%)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114800"/>
            <a:ext cx="7132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Passes response through toxic-bert toxicity classifier. Score is inverted: 1.0 = clean, 0.0 = toxic. Catches hate speech, profanity, and explicit discrimination.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Consistency (15%)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349240"/>
            <a:ext cx="7132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Splits response into sentences. Every pair checked via DeBERTa NLI for contradiction. Also compares against other models' responses for cross-model consensus.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RAG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Faithfulness &amp; Answer Relevance — detecting hallucinations and echoing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84FC"/>
                </a:solidFill>
                <a:latin typeface="Calibri"/>
              </a:defRPr>
            </a:pPr>
            <a:r>
              <a:t>Faithfulness (35% in RAG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Splits response into individual claims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Each claim verified against context via NLI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Entailed → full credit, Neutral → half, Contradiction → zero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Score = (entailed + 0.5×neutral) / total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Example: 'Prescribed Ibuprofen' when context says 'Amoxicillin' → CONTRADICTION → score drops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Answer Relevance (15% in RAG mode)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Computes prompt–response similarity (on topic?)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Computes context–response similarity (copying?)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If context_sim &gt;&gt; prompt_sim → context echo detected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Echo penalty applied: score = prompt_sim − α×(gap)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D4AA"/>
                </a:solidFill>
                <a:latin typeface="Calibri"/>
              </a:rPr>
              <a:t>▸ </a:t>
            </a:r>
            <a:r>
              <a:rPr sz="1500">
                <a:solidFill>
                  <a:srgbClr val="BBBBCC"/>
                </a:solidFill>
                <a:latin typeface="Calibri"/>
              </a:rPr>
              <a:t>Catches models that just parrot the source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Learning-Assisted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Ridge Regression trained on 51 human-rated samples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0.890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Cross-validated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256032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CBFF"/>
                </a:solidFill>
                <a:latin typeface="Calibri"/>
              </a:defRPr>
            </a:pPr>
            <a:r>
              <a:t>0.098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Mean Absolute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45920"/>
            <a:ext cx="256032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84FC"/>
                </a:solidFill>
                <a:latin typeface="Calibri"/>
              </a:defRPr>
            </a:pPr>
            <a:r>
              <a:t>0.925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Full Dataset R²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645920"/>
            <a:ext cx="256032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Training Samples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53035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Weight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Learned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Relevance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35.0%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24.2%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−10.8%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617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25.0%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617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617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+15.9%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Bias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25.0%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0.7%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−24.3%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532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532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15.0%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532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34.2%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532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+19.2%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017520"/>
            <a:ext cx="53035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7490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Quality matters most (40.9%) — humans value well-structured, detailed responses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Consistency is critical (34.2%) — contradictions are a strong negative signal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Bias had near-zero weight (0.7%) — all training samples were non-toxic, so bias had no discriminative power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Minimal overfitting: train-test R² gap of only 0.010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Validation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17 controlled test cases across all 6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2860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Total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2860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45920"/>
            <a:ext cx="22860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22860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  <a:latin typeface="Calibri"/>
              </a:defRPr>
            </a:pPr>
            <a:r>
              <a:t>88.2%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Pass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64008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Passing Cases — Framework correctly identifies: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11880"/>
            <a:ext cx="5943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Faithful vs hallucinated responses (faithfulness)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On-topic vs off-topic answers (relevance, answer relevance)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Clean vs toxic/biased text (bias)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Well-structured vs gibberish responses (quality)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Consistent vs self-contradictory text (consistency)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Verbatim context mirroring (answer relevance echo detection)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017520"/>
            <a:ext cx="42062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Known Limitations (2 failures):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61188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Case 16: Polite gender stereotypes not caught by toxic-bert (trained on overt hate speech only)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BBBBCC"/>
                </a:solidFill>
                <a:latin typeface="Calibri"/>
              </a:rPr>
              <a:t>Case 17: Plausible extra details classified as 'neutral' not 'hallucinated' by NLI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10 prompts × 3 models across 6 subject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🥇 GPT-4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Score: 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Consistently ranked #1 on all 10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CBFF"/>
                </a:solidFill>
                <a:latin typeface="Calibri"/>
              </a:defRPr>
            </a:pPr>
            <a:r>
              <a:t>🥈 Mistral-7B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Score: 0.72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Better structure but hurt by self-contradictions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645920"/>
            <a:ext cx="33832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8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🥉 Llama-3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Score: 0.56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Repetitive, low-quality outputs scored lowest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1069848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Key Findings from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Consistency was the most differentiating dimension (0.43-point spread)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Bias had the least variance — all models above 0.99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Categories: technology, science, biology, health, politics,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Framework generalises across all 6 subject categories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Rankings align with expected quality ordering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Results exported to CSV for reproducibility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Streamlit-based web interface with 3 tabs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Single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Enter prompt + up to 3 model responses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Toggle RAG mode for faithfulness checking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Switch between static and learned weights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Results: radar chart, ranked scores, hallucination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383280" cy="54864"/>
          </a:xfrm>
          <a:prstGeom prst="rect">
            <a:avLst/>
          </a:prstGeom>
          <a:solidFill>
            <a:srgbClr val="6B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CBFF"/>
                </a:solidFill>
                <a:latin typeface="Calibri"/>
              </a:defRPr>
            </a:pPr>
            <a:r>
              <a:t>Batch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Upload CSV/JSON with thousands of evaluations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Concurrent processing with ThreadPoolExecutor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Dashboard: KPIs, radar charts, heatmaps, box plots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Export results to CSV for further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645920"/>
            <a:ext cx="338328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1645920"/>
            <a:ext cx="338328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8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Validation Experiments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24688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17 controlled test cases across all 6 dimensions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One-click execution with real-time results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Pass/Fail display with per-metric accuracy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Documents framework limitations transparently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Tech Stack:  Python  •  Streamlit  •  PyTorch  •  Transformers  •  Sentence-Transformers  •  scikit-learn  •  Matplotlib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Multi-dimensional LLM evaluation framework (4 standard + 2 RAG dimensions)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Reference-free — no gold-standard answers needed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Local transformer models — zero API cost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Data-driven weights via Ridge Regression (R²=0.89)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88.2% validation pass rate on 17 test cases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Consistent model rankings across 10 benchmark prompts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Interactive Streamlit dashboard for non-technical users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D4AA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Full test suite for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5120640" cy="4389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CB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BCBF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Expand training data to 500+ samples for robust weights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CBF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Add fairness classifier for implicit bias detection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CBF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Improve hallucination detection with fact extraction + knowledge graphs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CBF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GPU-optimised batch inference for large-scale evaluation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CBF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Multilingual support with multilingual-MiniLM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CBFF"/>
                </a:solidFill>
                <a:latin typeface="Calibri"/>
              </a:rPr>
              <a:t>▸ </a:t>
            </a:r>
            <a:r>
              <a:rPr sz="1400">
                <a:solidFill>
                  <a:srgbClr val="BBBBCC"/>
                </a:solidFill>
                <a:latin typeface="Calibri"/>
              </a:rPr>
              <a:t>CI/CD integration for continuous LLM quality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